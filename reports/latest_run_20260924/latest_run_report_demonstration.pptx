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 fontScale="7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 fontScale="7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</a:t>
            </a:r>
            <a:r>
              <a:rPr b="0" lang="en-US" sz="3200" spc="-1" strike="noStrike">
                <a:latin typeface="Arial"/>
              </a:rPr>
              <a:t>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</a:t>
            </a:r>
            <a:r>
              <a:rPr b="0" lang="en-US" sz="2000" spc="-1" strike="noStrike">
                <a:latin typeface="Arial"/>
              </a:rPr>
              <a:t>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li</a:t>
            </a: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di</a:t>
            </a:r>
            <a:r>
              <a:rPr b="0" lang="en-US" sz="4400" spc="-1" strike="noStrike">
                <a:latin typeface="Arial"/>
              </a:rPr>
              <a:t>t </a:t>
            </a:r>
            <a:r>
              <a:rPr b="0" lang="en-US" sz="4400" spc="-1" strike="noStrike">
                <a:latin typeface="Arial"/>
              </a:rPr>
              <a:t>th</a:t>
            </a:r>
            <a:r>
              <a:rPr b="0" lang="en-US" sz="4400" spc="-1" strike="noStrike">
                <a:latin typeface="Arial"/>
              </a:rPr>
              <a:t>e </a:t>
            </a:r>
            <a:r>
              <a:rPr b="0" lang="en-US" sz="4400" spc="-1" strike="noStrike">
                <a:latin typeface="Arial"/>
              </a:rPr>
              <a:t>tit</a:t>
            </a:r>
            <a:r>
              <a:rPr b="0" lang="en-US" sz="4400" spc="-1" strike="noStrike">
                <a:latin typeface="Arial"/>
              </a:rPr>
              <a:t>le </a:t>
            </a:r>
            <a:r>
              <a:rPr b="0" lang="en-US" sz="4400" spc="-1" strike="noStrike">
                <a:latin typeface="Arial"/>
              </a:rPr>
              <a:t>te</a:t>
            </a:r>
            <a:r>
              <a:rPr b="0" lang="en-US" sz="4400" spc="-1" strike="noStrike">
                <a:latin typeface="Arial"/>
              </a:rPr>
              <a:t>xt </a:t>
            </a:r>
            <a:r>
              <a:rPr b="0" lang="en-US" sz="4400" spc="-1" strike="noStrike">
                <a:latin typeface="Arial"/>
              </a:rPr>
              <a:t>fo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</a:t>
            </a:r>
            <a:r>
              <a:rPr b="0" lang="en-US" sz="3200" spc="-1" strike="noStrike">
                <a:latin typeface="Arial"/>
              </a:rPr>
              <a:t>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</a:t>
            </a:r>
            <a:r>
              <a:rPr b="0" lang="en-US" sz="2000" spc="-1" strike="noStrike">
                <a:latin typeface="Arial"/>
              </a:rPr>
              <a:t>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412920" y="285840"/>
            <a:ext cx="11302560" cy="60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3400" spc="-1" strike="noStrike">
                <a:solidFill>
                  <a:srgbClr val="000000"/>
                </a:solidFill>
                <a:latin typeface="Microsoft YaHei"/>
              </a:rPr>
              <a:t>让机器人看着衣服，一步步完成折叠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507960" y="1333440"/>
            <a:ext cx="11112120" cy="379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700" spc="-1" strike="noStrike">
                <a:solidFill>
                  <a:srgbClr val="000000"/>
                </a:solidFill>
                <a:latin typeface="Microsoft YaHei"/>
              </a:rPr>
              <a:t>任务：从桌面上的衣物出发，识别结构，抓取并按顺序折叠。</a:t>
            </a: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700" spc="-1" strike="noStrike">
                <a:solidFill>
                  <a:srgbClr val="000000"/>
                </a:solidFill>
                <a:latin typeface="Microsoft YaHei"/>
              </a:rPr>
              <a:t>难点：布料会变形；抓取可能失败；上一轮动作会改变下一轮的场景。</a:t>
            </a: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700" spc="-1" strike="noStrike">
                <a:solidFill>
                  <a:srgbClr val="000000"/>
                </a:solidFill>
                <a:latin typeface="Microsoft YaHei"/>
              </a:rPr>
              <a:t>当前系统：单臂 </a:t>
            </a:r>
            <a:r>
              <a:rPr b="0" lang="en-US" sz="2700" spc="-1" strike="noStrike">
                <a:solidFill>
                  <a:srgbClr val="000000"/>
                </a:solidFill>
                <a:latin typeface="Microsoft YaHei"/>
              </a:rPr>
              <a:t>+ </a:t>
            </a:r>
            <a:r>
              <a:rPr b="0" lang="zh-CN" sz="2700" spc="-1" strike="noStrike">
                <a:solidFill>
                  <a:srgbClr val="000000"/>
                </a:solidFill>
                <a:latin typeface="Microsoft YaHei"/>
              </a:rPr>
              <a:t>腕部 </a:t>
            </a:r>
            <a:r>
              <a:rPr b="0" lang="en-US" sz="2700" spc="-1" strike="noStrike">
                <a:solidFill>
                  <a:srgbClr val="000000"/>
                </a:solidFill>
                <a:latin typeface="Microsoft YaHei"/>
              </a:rPr>
              <a:t>RGB-D </a:t>
            </a:r>
            <a:r>
              <a:rPr b="0" lang="zh-CN" sz="2700" spc="-1" strike="noStrike">
                <a:solidFill>
                  <a:srgbClr val="000000"/>
                </a:solidFill>
                <a:latin typeface="Microsoft YaHei"/>
              </a:rPr>
              <a:t>相机 </a:t>
            </a:r>
            <a:r>
              <a:rPr b="0" lang="en-US" sz="2700" spc="-1" strike="noStrike">
                <a:solidFill>
                  <a:srgbClr val="000000"/>
                </a:solidFill>
                <a:latin typeface="Microsoft YaHei"/>
              </a:rPr>
              <a:t>+ </a:t>
            </a:r>
            <a:r>
              <a:rPr b="0" lang="zh-CN" sz="2700" spc="-1" strike="noStrike">
                <a:solidFill>
                  <a:srgbClr val="000000"/>
                </a:solidFill>
                <a:latin typeface="Microsoft YaHei"/>
              </a:rPr>
              <a:t>预训练视觉语言模型。</a:t>
            </a: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700" spc="-1" strike="noStrike">
                <a:solidFill>
                  <a:srgbClr val="000000"/>
                </a:solidFill>
                <a:latin typeface="Microsoft YaHei"/>
              </a:rPr>
              <a:t>方法：参考人类示范，每次执行后重新观察，再决定下一步。</a:t>
            </a: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700" spc="-1" strike="noStrike">
                <a:solidFill>
                  <a:srgbClr val="000000"/>
                </a:solidFill>
                <a:latin typeface="Microsoft YaHei"/>
              </a:rPr>
              <a:t>本次汇报：方法如何工作 → 中间过程 → 已有结果 → 下一步。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18" name="CustomShape 3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412920" y="285840"/>
            <a:ext cx="11427840" cy="60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34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核心思路：用现有模型组织机器人决策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444600" y="95256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无需额外训练任务策略，无需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simulator / sim-to-real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121" name="CustomShape 3"/>
          <p:cNvSpPr/>
          <p:nvPr/>
        </p:nvSpPr>
        <p:spPr>
          <a:xfrm>
            <a:off x="444600" y="136512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预训练模型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+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真实反馈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+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执行约束 → 有效的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harness policy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122" name="CustomShape 4"/>
          <p:cNvSpPr/>
          <p:nvPr/>
        </p:nvSpPr>
        <p:spPr>
          <a:xfrm>
            <a:off x="444600" y="177804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单臂已有完成案例；稳定性与泛化仍需验证。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123" name="CustomShape 5"/>
          <p:cNvSpPr/>
          <p:nvPr/>
        </p:nvSpPr>
        <p:spPr>
          <a:xfrm>
            <a:off x="476280" y="2413080"/>
            <a:ext cx="545868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起始状态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4" name="Picture 6" descr="image.png"/>
          <p:cNvPicPr/>
          <p:nvPr/>
        </p:nvPicPr>
        <p:blipFill>
          <a:blip r:embed="rId1"/>
          <a:stretch/>
        </p:blipFill>
        <p:spPr>
          <a:xfrm>
            <a:off x="2224440" y="2762280"/>
            <a:ext cx="1962360" cy="3490200"/>
          </a:xfrm>
          <a:prstGeom prst="rect">
            <a:avLst/>
          </a:prstGeom>
          <a:ln>
            <a:noFill/>
          </a:ln>
        </p:spPr>
      </p:pic>
      <p:sp>
        <p:nvSpPr>
          <p:cNvPr id="125" name="CustomShape 6"/>
          <p:cNvSpPr/>
          <p:nvPr/>
        </p:nvSpPr>
        <p:spPr>
          <a:xfrm>
            <a:off x="6064200" y="2413080"/>
            <a:ext cx="545868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最终状态（仍有起皱）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6" name="Picture 8" descr="image.png"/>
          <p:cNvPicPr/>
          <p:nvPr/>
        </p:nvPicPr>
        <p:blipFill>
          <a:blip r:embed="rId2"/>
          <a:stretch/>
        </p:blipFill>
        <p:spPr>
          <a:xfrm>
            <a:off x="7812360" y="2762280"/>
            <a:ext cx="1962360" cy="3490200"/>
          </a:xfrm>
          <a:prstGeom prst="rect">
            <a:avLst/>
          </a:prstGeom>
          <a:ln>
            <a:noFill/>
          </a:ln>
        </p:spPr>
      </p:pic>
      <p:sp>
        <p:nvSpPr>
          <p:cNvPr id="127" name="CustomShape 7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412920" y="222120"/>
            <a:ext cx="1130148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Demonstration </a:t>
            </a: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与实际执行：下摆对折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444600" y="730080"/>
            <a:ext cx="11301480" cy="40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Demonstration</a:t>
            </a:r>
            <a:r>
              <a:rPr b="0" lang="zh-CN" sz="21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提供前后状态参考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30" name="CustomShape 3"/>
          <p:cNvSpPr/>
          <p:nvPr/>
        </p:nvSpPr>
        <p:spPr>
          <a:xfrm>
            <a:off x="8321040" y="822960"/>
            <a:ext cx="5396040" cy="4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5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实际执行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31" name="CustomShape 4"/>
          <p:cNvSpPr/>
          <p:nvPr/>
        </p:nvSpPr>
        <p:spPr>
          <a:xfrm>
            <a:off x="412920" y="1327680"/>
            <a:ext cx="2665440" cy="40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1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示范前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132" name="Picture 6" descr="image.png"/>
          <p:cNvPicPr/>
          <p:nvPr/>
        </p:nvPicPr>
        <p:blipFill>
          <a:blip r:embed="rId1"/>
          <a:stretch/>
        </p:blipFill>
        <p:spPr>
          <a:xfrm>
            <a:off x="478080" y="1841400"/>
            <a:ext cx="2534760" cy="4507200"/>
          </a:xfrm>
          <a:prstGeom prst="rect">
            <a:avLst/>
          </a:prstGeom>
          <a:ln>
            <a:noFill/>
          </a:ln>
        </p:spPr>
      </p:pic>
      <p:sp>
        <p:nvSpPr>
          <p:cNvPr id="133" name="CustomShape 5"/>
          <p:cNvSpPr/>
          <p:nvPr/>
        </p:nvSpPr>
        <p:spPr>
          <a:xfrm>
            <a:off x="3174840" y="1371600"/>
            <a:ext cx="2665440" cy="40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1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示范后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134" name="Picture 8" descr="image.png"/>
          <p:cNvPicPr/>
          <p:nvPr/>
        </p:nvPicPr>
        <p:blipFill>
          <a:blip r:embed="rId2"/>
          <a:stretch/>
        </p:blipFill>
        <p:spPr>
          <a:xfrm>
            <a:off x="3240360" y="1841400"/>
            <a:ext cx="2534760" cy="4507200"/>
          </a:xfrm>
          <a:prstGeom prst="rect">
            <a:avLst/>
          </a:prstGeom>
          <a:ln>
            <a:noFill/>
          </a:ln>
        </p:spPr>
      </p:pic>
      <p:sp>
        <p:nvSpPr>
          <p:cNvPr id="135" name="CustomShape 6"/>
          <p:cNvSpPr/>
          <p:nvPr/>
        </p:nvSpPr>
        <p:spPr>
          <a:xfrm>
            <a:off x="6386040" y="1419120"/>
            <a:ext cx="2665440" cy="40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1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执行前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136" name="Picture 10" descr="image.png"/>
          <p:cNvPicPr/>
          <p:nvPr/>
        </p:nvPicPr>
        <p:blipFill>
          <a:blip r:embed="rId3"/>
          <a:stretch/>
        </p:blipFill>
        <p:spPr>
          <a:xfrm>
            <a:off x="6351840" y="1841400"/>
            <a:ext cx="2534760" cy="4507200"/>
          </a:xfrm>
          <a:prstGeom prst="rect">
            <a:avLst/>
          </a:prstGeom>
          <a:ln>
            <a:noFill/>
          </a:ln>
        </p:spPr>
      </p:pic>
      <p:sp>
        <p:nvSpPr>
          <p:cNvPr id="137" name="CustomShape 7"/>
          <p:cNvSpPr/>
          <p:nvPr/>
        </p:nvSpPr>
        <p:spPr>
          <a:xfrm>
            <a:off x="9114120" y="1419120"/>
            <a:ext cx="2665440" cy="40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1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执行后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138" name="Picture 12" descr="image.png"/>
          <p:cNvPicPr/>
          <p:nvPr/>
        </p:nvPicPr>
        <p:blipFill>
          <a:blip r:embed="rId4"/>
          <a:stretch/>
        </p:blipFill>
        <p:spPr>
          <a:xfrm>
            <a:off x="9114120" y="1841400"/>
            <a:ext cx="2534760" cy="4507200"/>
          </a:xfrm>
          <a:prstGeom prst="rect">
            <a:avLst/>
          </a:prstGeom>
          <a:ln>
            <a:noFill/>
          </a:ln>
        </p:spPr>
      </p:pic>
      <p:sp>
        <p:nvSpPr>
          <p:cNvPr id="139" name="CustomShape 8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412920" y="285840"/>
            <a:ext cx="113025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3200" spc="-1" strike="noStrike">
                <a:solidFill>
                  <a:srgbClr val="000000"/>
                </a:solidFill>
                <a:latin typeface="Microsoft YaHei"/>
              </a:rPr>
              <a:t>系统如何工作：每次动作都形成反馈闭环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444600" y="1714680"/>
            <a:ext cx="3111120" cy="1269720"/>
          </a:xfrm>
          <a:prstGeom prst="rect">
            <a:avLst/>
          </a:prstGeom>
          <a:noFill/>
          <a:ln>
            <a:solidFill>
              <a:srgbClr val="000000"/>
            </a:solidFill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CustomShape 4"/>
          <p:cNvSpPr/>
          <p:nvPr/>
        </p:nvSpPr>
        <p:spPr>
          <a:xfrm>
            <a:off x="539640" y="1841400"/>
            <a:ext cx="2952360" cy="10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观察衣物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彩色图像 </a:t>
            </a:r>
            <a:r>
              <a:rPr b="0" lang="en-US" sz="2200" spc="-1" strike="noStrike">
                <a:solidFill>
                  <a:srgbClr val="000000"/>
                </a:solidFill>
                <a:latin typeface="Microsoft YaHei"/>
              </a:rPr>
              <a:t>+ </a:t>
            </a: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深度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4" name="CustomShape 5"/>
          <p:cNvSpPr/>
          <p:nvPr/>
        </p:nvSpPr>
        <p:spPr>
          <a:xfrm>
            <a:off x="3683160" y="2158920"/>
            <a:ext cx="69804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500" spc="-1" strike="noStrike">
                <a:solidFill>
                  <a:srgbClr val="000000"/>
                </a:solidFill>
                <a:latin typeface="Microsoft YaHei"/>
              </a:rPr>
              <a:t>→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45" name="CustomShape 6"/>
          <p:cNvSpPr/>
          <p:nvPr/>
        </p:nvSpPr>
        <p:spPr>
          <a:xfrm>
            <a:off x="4508640" y="1714680"/>
            <a:ext cx="3111120" cy="1269720"/>
          </a:xfrm>
          <a:prstGeom prst="rect">
            <a:avLst/>
          </a:prstGeom>
          <a:noFill/>
          <a:ln>
            <a:solidFill>
              <a:srgbClr val="000000"/>
            </a:solidFill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CustomShape 7"/>
          <p:cNvSpPr/>
          <p:nvPr/>
        </p:nvSpPr>
        <p:spPr>
          <a:xfrm>
            <a:off x="4603680" y="1841400"/>
            <a:ext cx="2952360" cy="10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判断当前阶段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对照人类示范与历史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7" name="CustomShape 8"/>
          <p:cNvSpPr/>
          <p:nvPr/>
        </p:nvSpPr>
        <p:spPr>
          <a:xfrm>
            <a:off x="7746840" y="2158920"/>
            <a:ext cx="69804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500" spc="-1" strike="noStrike">
                <a:solidFill>
                  <a:srgbClr val="000000"/>
                </a:solidFill>
                <a:latin typeface="Microsoft YaHei"/>
              </a:rPr>
              <a:t>→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48" name="CustomShape 9"/>
          <p:cNvSpPr/>
          <p:nvPr/>
        </p:nvSpPr>
        <p:spPr>
          <a:xfrm>
            <a:off x="8572680" y="1714680"/>
            <a:ext cx="3111120" cy="1269720"/>
          </a:xfrm>
          <a:prstGeom prst="rect">
            <a:avLst/>
          </a:prstGeom>
          <a:noFill/>
          <a:ln>
            <a:solidFill>
              <a:srgbClr val="000000"/>
            </a:solidFill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CustomShape 10"/>
          <p:cNvSpPr/>
          <p:nvPr/>
        </p:nvSpPr>
        <p:spPr>
          <a:xfrm>
            <a:off x="8667720" y="1841400"/>
            <a:ext cx="2952360" cy="10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选择动作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模型选抓点与落点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0" name="CustomShape 11"/>
          <p:cNvSpPr/>
          <p:nvPr/>
        </p:nvSpPr>
        <p:spPr>
          <a:xfrm>
            <a:off x="9842400" y="3111480"/>
            <a:ext cx="69804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500" spc="-1" strike="noStrike">
                <a:solidFill>
                  <a:srgbClr val="000000"/>
                </a:solidFill>
                <a:latin typeface="Microsoft YaHei"/>
              </a:rPr>
              <a:t>↓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51" name="CustomShape 12"/>
          <p:cNvSpPr/>
          <p:nvPr/>
        </p:nvSpPr>
        <p:spPr>
          <a:xfrm>
            <a:off x="8572680" y="3873600"/>
            <a:ext cx="3111120" cy="1269720"/>
          </a:xfrm>
          <a:prstGeom prst="rect">
            <a:avLst/>
          </a:prstGeom>
          <a:noFill/>
          <a:ln>
            <a:solidFill>
              <a:srgbClr val="000000"/>
            </a:solidFill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CustomShape 13"/>
          <p:cNvSpPr/>
          <p:nvPr/>
        </p:nvSpPr>
        <p:spPr>
          <a:xfrm>
            <a:off x="8667720" y="4000680"/>
            <a:ext cx="2952360" cy="103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执行前检查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</a:rPr>
              <a:t>坐标、工作空间与可达性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3" name="CustomShape 14"/>
          <p:cNvSpPr/>
          <p:nvPr/>
        </p:nvSpPr>
        <p:spPr>
          <a:xfrm>
            <a:off x="7873920" y="4317840"/>
            <a:ext cx="69804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500" spc="-1" strike="noStrike">
                <a:solidFill>
                  <a:srgbClr val="000000"/>
                </a:solidFill>
                <a:latin typeface="Microsoft YaHei"/>
              </a:rPr>
              <a:t>←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54" name="CustomShape 15"/>
          <p:cNvSpPr/>
          <p:nvPr/>
        </p:nvSpPr>
        <p:spPr>
          <a:xfrm>
            <a:off x="4508640" y="3873600"/>
            <a:ext cx="3111120" cy="1269720"/>
          </a:xfrm>
          <a:prstGeom prst="rect">
            <a:avLst/>
          </a:prstGeom>
          <a:noFill/>
          <a:ln>
            <a:solidFill>
              <a:srgbClr val="000000"/>
            </a:solidFill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CustomShape 16"/>
          <p:cNvSpPr/>
          <p:nvPr/>
        </p:nvSpPr>
        <p:spPr>
          <a:xfrm>
            <a:off x="4603680" y="4000680"/>
            <a:ext cx="2952360" cy="103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执行与拍照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</a:rPr>
              <a:t>闭合、抬升、搬运、释放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6" name="CustomShape 17"/>
          <p:cNvSpPr/>
          <p:nvPr/>
        </p:nvSpPr>
        <p:spPr>
          <a:xfrm>
            <a:off x="3809880" y="4317840"/>
            <a:ext cx="69804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500" spc="-1" strike="noStrike">
                <a:solidFill>
                  <a:srgbClr val="000000"/>
                </a:solidFill>
                <a:latin typeface="Microsoft YaHei"/>
              </a:rPr>
              <a:t>←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57" name="CustomShape 18"/>
          <p:cNvSpPr/>
          <p:nvPr/>
        </p:nvSpPr>
        <p:spPr>
          <a:xfrm>
            <a:off x="444600" y="3873600"/>
            <a:ext cx="3111120" cy="1269720"/>
          </a:xfrm>
          <a:prstGeom prst="rect">
            <a:avLst/>
          </a:prstGeom>
          <a:noFill/>
          <a:ln>
            <a:solidFill>
              <a:srgbClr val="000000"/>
            </a:solidFill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CustomShape 19"/>
          <p:cNvSpPr/>
          <p:nvPr/>
        </p:nvSpPr>
        <p:spPr>
          <a:xfrm>
            <a:off x="539640" y="4000680"/>
            <a:ext cx="2952360" cy="10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</a:rPr>
              <a:t>评估与记录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159" name="CustomShape 20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4/11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0" name="CustomShape 21"/>
          <p:cNvSpPr/>
          <p:nvPr/>
        </p:nvSpPr>
        <p:spPr>
          <a:xfrm>
            <a:off x="9842400" y="3111480"/>
            <a:ext cx="69804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500" spc="-1" strike="noStrike">
                <a:solidFill>
                  <a:srgbClr val="000000"/>
                </a:solidFill>
                <a:latin typeface="Microsoft YaHei"/>
              </a:rPr>
              <a:t>↓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61" name="CustomShape 22"/>
          <p:cNvSpPr/>
          <p:nvPr/>
        </p:nvSpPr>
        <p:spPr>
          <a:xfrm rot="10760400">
            <a:off x="1405080" y="3125880"/>
            <a:ext cx="69804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500" spc="-1" strike="noStrike">
                <a:solidFill>
                  <a:srgbClr val="000000"/>
                </a:solidFill>
                <a:latin typeface="Microsoft YaHei"/>
              </a:rPr>
              <a:t>↓</a:t>
            </a:r>
            <a:endParaRPr b="0" lang="en-US" sz="3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412920" y="285840"/>
            <a:ext cx="1142784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过程 </a:t>
            </a:r>
            <a:r>
              <a:rPr b="0" lang="en-US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1</a:t>
            </a: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</a:t>
            </a:r>
            <a:r>
              <a:rPr b="0" lang="en-US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Claude </a:t>
            </a: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实际调用图像工具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2286000" y="2313720"/>
            <a:ext cx="359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模型查看的原图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64" name="Picture 6" descr="image.png"/>
          <p:cNvPicPr/>
          <p:nvPr/>
        </p:nvPicPr>
        <p:blipFill>
          <a:blip r:embed="rId1"/>
          <a:stretch/>
        </p:blipFill>
        <p:spPr>
          <a:xfrm>
            <a:off x="2286000" y="2694600"/>
            <a:ext cx="1980360" cy="3522240"/>
          </a:xfrm>
          <a:prstGeom prst="rect">
            <a:avLst/>
          </a:prstGeom>
          <a:ln>
            <a:noFill/>
          </a:ln>
        </p:spPr>
      </p:pic>
      <p:sp>
        <p:nvSpPr>
          <p:cNvPr id="165" name="CustomShape 3"/>
          <p:cNvSpPr/>
          <p:nvPr/>
        </p:nvSpPr>
        <p:spPr>
          <a:xfrm>
            <a:off x="6011280" y="2313720"/>
            <a:ext cx="359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工具生成局部视图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66" name="Picture 8" descr="image.png"/>
          <p:cNvPicPr/>
          <p:nvPr/>
        </p:nvPicPr>
        <p:blipFill>
          <a:blip r:embed="rId2"/>
          <a:stretch/>
        </p:blipFill>
        <p:spPr>
          <a:xfrm>
            <a:off x="5577840" y="2743200"/>
            <a:ext cx="3368880" cy="3522240"/>
          </a:xfrm>
          <a:prstGeom prst="rect">
            <a:avLst/>
          </a:prstGeom>
          <a:ln>
            <a:noFill/>
          </a:ln>
        </p:spPr>
      </p:pic>
      <p:sp>
        <p:nvSpPr>
          <p:cNvPr id="167" name="CustomShape 4"/>
          <p:cNvSpPr/>
          <p:nvPr/>
        </p:nvSpPr>
        <p:spPr>
          <a:xfrm>
            <a:off x="1125720" y="1443600"/>
            <a:ext cx="8932680" cy="75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  <a:ea typeface="DejaVu Sans"/>
              </a:rPr>
              <a:t>我们提供了一系列的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tool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  <a:ea typeface="DejaVu Sans"/>
              </a:rPr>
              <a:t>给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claude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  <a:ea typeface="DejaVu Sans"/>
              </a:rPr>
              <a:t>使用。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claude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  <a:ea typeface="DejaVu Sans"/>
              </a:rPr>
              <a:t>可以自由使用其中的工具（如，裁剪、放大、旋转）来协助自己进行推理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412920" y="222120"/>
            <a:ext cx="1130220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过程 </a:t>
            </a:r>
            <a:r>
              <a:rPr b="0" lang="en-US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2</a:t>
            </a: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：候选点 → 抓取点与目标点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444600" y="793800"/>
            <a:ext cx="11302200" cy="40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1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第二段 </a:t>
            </a:r>
            <a:r>
              <a:rPr b="0" lang="en-US" sz="21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iter1 · </a:t>
            </a:r>
            <a:r>
              <a:rPr b="0" lang="zh-CN" sz="21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右袖折叠；右图为实际运行保存的工作空间与轨迹标注。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71" name="CustomShape 3"/>
          <p:cNvSpPr/>
          <p:nvPr/>
        </p:nvSpPr>
        <p:spPr>
          <a:xfrm>
            <a:off x="412920" y="1238400"/>
            <a:ext cx="387288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Rxxx </a:t>
            </a:r>
            <a:r>
              <a:rPr b="0" lang="zh-CN" sz="2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候选点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172" name="Picture 4" descr="image.png"/>
          <p:cNvPicPr/>
          <p:nvPr/>
        </p:nvPicPr>
        <p:blipFill>
          <a:blip r:embed="rId1"/>
          <a:stretch/>
        </p:blipFill>
        <p:spPr>
          <a:xfrm>
            <a:off x="1001160" y="1587600"/>
            <a:ext cx="2696040" cy="4793400"/>
          </a:xfrm>
          <a:prstGeom prst="rect">
            <a:avLst/>
          </a:prstGeom>
          <a:ln>
            <a:noFill/>
          </a:ln>
        </p:spPr>
      </p:pic>
      <p:sp>
        <p:nvSpPr>
          <p:cNvPr id="173" name="CustomShape 4"/>
          <p:cNvSpPr/>
          <p:nvPr/>
        </p:nvSpPr>
        <p:spPr>
          <a:xfrm>
            <a:off x="4413240" y="1238400"/>
            <a:ext cx="387288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实际保存：抓取点 </a:t>
            </a:r>
            <a:r>
              <a:rPr b="0" lang="en-US" sz="2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+ </a:t>
            </a:r>
            <a:r>
              <a:rPr b="0" lang="zh-CN" sz="2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目标点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174" name="Picture 6" descr="workspace_targets_upright.png"/>
          <p:cNvPicPr/>
          <p:nvPr/>
        </p:nvPicPr>
        <p:blipFill>
          <a:blip r:embed="rId2"/>
          <a:stretch/>
        </p:blipFill>
        <p:spPr>
          <a:xfrm>
            <a:off x="5264640" y="1683360"/>
            <a:ext cx="2233080" cy="4793400"/>
          </a:xfrm>
          <a:prstGeom prst="rect">
            <a:avLst/>
          </a:prstGeom>
          <a:ln>
            <a:noFill/>
          </a:ln>
        </p:spPr>
      </p:pic>
      <p:sp>
        <p:nvSpPr>
          <p:cNvPr id="175" name="CustomShape 5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412920" y="285840"/>
            <a:ext cx="1142784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过程 </a:t>
            </a:r>
            <a:r>
              <a:rPr b="0" lang="en-US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3</a:t>
            </a: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：深度信息与表面高度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444600" y="920880"/>
            <a:ext cx="113007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展示同次感知保存的高度热图：由 </a:t>
            </a:r>
            <a:r>
              <a:rPr b="0" lang="en-US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RGB-D </a:t>
            </a: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和标定转换得到。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8" name="CustomShape 3"/>
          <p:cNvSpPr/>
          <p:nvPr/>
        </p:nvSpPr>
        <p:spPr>
          <a:xfrm>
            <a:off x="444600" y="1333440"/>
            <a:ext cx="113007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末轮 </a:t>
            </a:r>
            <a:r>
              <a:rPr b="0" lang="en-US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R005</a:t>
            </a: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：表面 </a:t>
            </a:r>
            <a:r>
              <a:rPr b="0" lang="en-US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Z≈45.0 mm</a:t>
            </a: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，抓取 </a:t>
            </a:r>
            <a:r>
              <a:rPr b="0" lang="en-US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Z≈37.0 mm</a:t>
            </a: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；坐标在机器人基座系。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9" name="CustomShape 4"/>
          <p:cNvSpPr/>
          <p:nvPr/>
        </p:nvSpPr>
        <p:spPr>
          <a:xfrm>
            <a:off x="476280" y="2381400"/>
            <a:ext cx="359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对应 </a:t>
            </a:r>
            <a:r>
              <a:rPr b="0" lang="en-US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RGB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80" name="Picture 5" descr="image.png"/>
          <p:cNvPicPr/>
          <p:nvPr/>
        </p:nvPicPr>
        <p:blipFill>
          <a:blip r:embed="rId1"/>
          <a:stretch/>
        </p:blipFill>
        <p:spPr>
          <a:xfrm>
            <a:off x="476280" y="3512520"/>
            <a:ext cx="3596040" cy="2021760"/>
          </a:xfrm>
          <a:prstGeom prst="rect">
            <a:avLst/>
          </a:prstGeom>
          <a:ln>
            <a:noFill/>
          </a:ln>
        </p:spPr>
      </p:pic>
      <p:sp>
        <p:nvSpPr>
          <p:cNvPr id="181" name="CustomShape 5"/>
          <p:cNvSpPr/>
          <p:nvPr/>
        </p:nvSpPr>
        <p:spPr>
          <a:xfrm>
            <a:off x="4201560" y="2381400"/>
            <a:ext cx="359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局部高度热图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82" name="Picture 7" descr="image.png"/>
          <p:cNvPicPr/>
          <p:nvPr/>
        </p:nvPicPr>
        <p:blipFill>
          <a:blip r:embed="rId2"/>
          <a:stretch/>
        </p:blipFill>
        <p:spPr>
          <a:xfrm>
            <a:off x="4201560" y="3512520"/>
            <a:ext cx="3596040" cy="2021760"/>
          </a:xfrm>
          <a:prstGeom prst="rect">
            <a:avLst/>
          </a:prstGeom>
          <a:ln>
            <a:noFill/>
          </a:ln>
        </p:spPr>
      </p:pic>
      <p:sp>
        <p:nvSpPr>
          <p:cNvPr id="183" name="CustomShape 6"/>
          <p:cNvSpPr/>
          <p:nvPr/>
        </p:nvSpPr>
        <p:spPr>
          <a:xfrm>
            <a:off x="7926840" y="2381400"/>
            <a:ext cx="359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全局高度热图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84" name="Picture 9" descr="image.png"/>
          <p:cNvPicPr/>
          <p:nvPr/>
        </p:nvPicPr>
        <p:blipFill>
          <a:blip r:embed="rId3"/>
          <a:stretch/>
        </p:blipFill>
        <p:spPr>
          <a:xfrm>
            <a:off x="7926840" y="3512520"/>
            <a:ext cx="3596040" cy="2021760"/>
          </a:xfrm>
          <a:prstGeom prst="rect">
            <a:avLst/>
          </a:prstGeom>
          <a:ln>
            <a:noFill/>
          </a:ln>
        </p:spPr>
      </p:pic>
      <p:sp>
        <p:nvSpPr>
          <p:cNvPr id="185" name="CustomShape 7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412920" y="285840"/>
            <a:ext cx="1142784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过程 </a:t>
            </a:r>
            <a:r>
              <a:rPr b="0" lang="en-US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4</a:t>
            </a: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：抓取取证与最终评估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444600" y="920880"/>
            <a:ext cx="113007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末轮下摆对折：比较抬升前后布料形变，再结合最终同视角结果判断。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8" name="CustomShape 3"/>
          <p:cNvSpPr/>
          <p:nvPr/>
        </p:nvSpPr>
        <p:spPr>
          <a:xfrm>
            <a:off x="444600" y="1333440"/>
            <a:ext cx="113007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腕部相机会随机器人移动；仅凭画面放大不能证明抓住。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9" name="CustomShape 4"/>
          <p:cNvSpPr/>
          <p:nvPr/>
        </p:nvSpPr>
        <p:spPr>
          <a:xfrm>
            <a:off x="476280" y="2381400"/>
            <a:ext cx="359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过程取证帧 </a:t>
            </a:r>
            <a:r>
              <a:rPr b="0" lang="en-US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90" name="Picture 5" descr="image.png"/>
          <p:cNvPicPr/>
          <p:nvPr/>
        </p:nvPicPr>
        <p:blipFill>
          <a:blip r:embed="rId1"/>
          <a:stretch/>
        </p:blipFill>
        <p:spPr>
          <a:xfrm>
            <a:off x="476280" y="3512520"/>
            <a:ext cx="3596040" cy="2021760"/>
          </a:xfrm>
          <a:prstGeom prst="rect">
            <a:avLst/>
          </a:prstGeom>
          <a:ln>
            <a:noFill/>
          </a:ln>
        </p:spPr>
      </p:pic>
      <p:sp>
        <p:nvSpPr>
          <p:cNvPr id="191" name="CustomShape 5"/>
          <p:cNvSpPr/>
          <p:nvPr/>
        </p:nvSpPr>
        <p:spPr>
          <a:xfrm>
            <a:off x="4201560" y="2381400"/>
            <a:ext cx="359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过程取证帧 </a:t>
            </a:r>
            <a:r>
              <a:rPr b="0" lang="en-US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92" name="Picture 7" descr="image.png"/>
          <p:cNvPicPr/>
          <p:nvPr/>
        </p:nvPicPr>
        <p:blipFill>
          <a:blip r:embed="rId2"/>
          <a:stretch/>
        </p:blipFill>
        <p:spPr>
          <a:xfrm>
            <a:off x="4201560" y="3512520"/>
            <a:ext cx="3596040" cy="2021760"/>
          </a:xfrm>
          <a:prstGeom prst="rect">
            <a:avLst/>
          </a:prstGeom>
          <a:ln>
            <a:noFill/>
          </a:ln>
        </p:spPr>
      </p:pic>
      <p:sp>
        <p:nvSpPr>
          <p:cNvPr id="193" name="CustomShape 6"/>
          <p:cNvSpPr/>
          <p:nvPr/>
        </p:nvSpPr>
        <p:spPr>
          <a:xfrm>
            <a:off x="7926840" y="2381400"/>
            <a:ext cx="359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释放后结果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94" name="Picture 9" descr="image.png"/>
          <p:cNvPicPr/>
          <p:nvPr/>
        </p:nvPicPr>
        <p:blipFill>
          <a:blip r:embed="rId3"/>
          <a:stretch/>
        </p:blipFill>
        <p:spPr>
          <a:xfrm>
            <a:off x="8735040" y="2762280"/>
            <a:ext cx="1980360" cy="3522240"/>
          </a:xfrm>
          <a:prstGeom prst="rect">
            <a:avLst/>
          </a:prstGeom>
          <a:ln>
            <a:noFill/>
          </a:ln>
        </p:spPr>
      </p:pic>
      <p:sp>
        <p:nvSpPr>
          <p:cNvPr id="195" name="CustomShape 7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412920" y="285840"/>
            <a:ext cx="1142892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Experience</a:t>
            </a:r>
            <a:r>
              <a:rPr b="0" lang="zh-CN" sz="3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：如何从真实执行中得到经验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444600" y="1047600"/>
            <a:ext cx="113018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4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执行与拍照 → 前后对比评估 → 提出条件经验 → 校验入库 → 下一轮参考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8" name="CustomShape 3"/>
          <p:cNvSpPr/>
          <p:nvPr/>
        </p:nvSpPr>
        <p:spPr>
          <a:xfrm>
            <a:off x="444600" y="1968480"/>
            <a:ext cx="1130184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① </a:t>
            </a:r>
            <a:r>
              <a:rPr b="0" lang="zh-CN" sz="26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抓取 </a:t>
            </a:r>
            <a:r>
              <a:rPr b="0" lang="en-US" sz="26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experience</a:t>
            </a:r>
            <a:r>
              <a:rPr b="0" lang="zh-CN" sz="26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：选择稍靠内的双层缝线边带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99" name="CustomShape 4"/>
          <p:cNvSpPr/>
          <p:nvPr/>
        </p:nvSpPr>
        <p:spPr>
          <a:xfrm>
            <a:off x="603360" y="2476440"/>
            <a:ext cx="108576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下摆对折案例：抓取下摆缝线带后，衣物随抬升与搬运移动，完成对折。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形成条件经验：长条状衣物可考虑在双层下摆边带稍靠内处抓取。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00" name="CustomShape 5"/>
          <p:cNvSpPr/>
          <p:nvPr/>
        </p:nvSpPr>
        <p:spPr>
          <a:xfrm>
            <a:off x="444600" y="3936960"/>
            <a:ext cx="1130184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② </a:t>
            </a:r>
            <a:r>
              <a:rPr b="0" lang="zh-CN" sz="26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搬运 </a:t>
            </a:r>
            <a:r>
              <a:rPr b="0" lang="en-US" sz="26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experience</a:t>
            </a:r>
            <a:r>
              <a:rPr b="0" lang="zh-CN" sz="26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：抓住边缘后，不能拉过头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01" name="CustomShape 6"/>
          <p:cNvSpPr/>
          <p:nvPr/>
        </p:nvSpPr>
        <p:spPr>
          <a:xfrm>
            <a:off x="603360" y="4444920"/>
            <a:ext cx="108576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已有右侧身经验：单点夹边后的长距离低空拖动，与整衣平移、拧成团相关。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22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规划启发：围绕预期折线控制搬运终点，避免把局部折叠变成整衣拖拽。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02" name="CustomShape 7"/>
          <p:cNvSpPr/>
          <p:nvPr/>
        </p:nvSpPr>
        <p:spPr>
          <a:xfrm>
            <a:off x="444600" y="5905440"/>
            <a:ext cx="113018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经验来自可观察结果；证据不足或校验失败时，保留记录而不强化规则。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3" name="CustomShape 8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412920" y="285840"/>
            <a:ext cx="11427840" cy="60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34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最新 </a:t>
            </a:r>
            <a:r>
              <a:rPr b="0" lang="en-US" sz="34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run</a:t>
            </a:r>
            <a:r>
              <a:rPr b="0" lang="zh-CN" sz="34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：结果与视频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444600" y="95256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15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轮记录、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13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段录像；第二段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8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轮后系统判为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COMPLETE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06" name="CustomShape 3"/>
          <p:cNvSpPr/>
          <p:nvPr/>
        </p:nvSpPr>
        <p:spPr>
          <a:xfrm>
            <a:off x="444600" y="136512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新增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15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条记录，仅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1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次规则写入；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9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次经验生成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/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校验失败。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07" name="CustomShape 4"/>
          <p:cNvSpPr/>
          <p:nvPr/>
        </p:nvSpPr>
        <p:spPr>
          <a:xfrm>
            <a:off x="444600" y="177804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视频约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36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秒（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32×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），不含规划等待；仍有起皱，稳定性待验证。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08" name="CustomShape 5"/>
          <p:cNvSpPr/>
          <p:nvPr/>
        </p:nvSpPr>
        <p:spPr>
          <a:xfrm>
            <a:off x="444600" y="2222640"/>
            <a:ext cx="101577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0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点击画面播放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9" name="CustomShape 6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412920" y="285840"/>
            <a:ext cx="11427840" cy="60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34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当前进度与下一步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44600" y="95256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已完成：单臂观测—规划—执行—评估闭环。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12" name="CustomShape 3"/>
          <p:cNvSpPr/>
          <p:nvPr/>
        </p:nvSpPr>
        <p:spPr>
          <a:xfrm>
            <a:off x="444600" y="136512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下一步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1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：跑通双臂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pipeline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，实现固定、牵拉与折叠协同。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13" name="CustomShape 4"/>
          <p:cNvSpPr/>
          <p:nvPr/>
        </p:nvSpPr>
        <p:spPr>
          <a:xfrm>
            <a:off x="444600" y="177804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下一步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2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：展平衣物，衔接“凌乱衣物 → 展平 → 折叠”。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14" name="CustomShape 5"/>
          <p:cNvSpPr/>
          <p:nvPr/>
        </p:nvSpPr>
        <p:spPr>
          <a:xfrm>
            <a:off x="444600" y="2190600"/>
            <a:ext cx="11300760" cy="43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验证：重复成功率、展平 </a:t>
            </a:r>
            <a:r>
              <a:rPr b="0" lang="en-US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/ </a:t>
            </a:r>
            <a:r>
              <a:rPr b="0" lang="zh-CN" sz="2300" spc="-1" strike="noStrike">
                <a:solidFill>
                  <a:srgbClr val="000000"/>
                </a:solidFill>
                <a:latin typeface="Microsoft YaHei"/>
                <a:ea typeface="DejaVu Sans"/>
              </a:rPr>
              <a:t>折叠质量、耗时、人工干预次数。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15" name="CustomShape 6"/>
          <p:cNvSpPr/>
          <p:nvPr/>
        </p:nvSpPr>
        <p:spPr>
          <a:xfrm>
            <a:off x="412920" y="6477120"/>
            <a:ext cx="111121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ClothAgent | </a:t>
            </a:r>
            <a:r>
              <a:rPr b="0" lang="zh-CN" sz="1200" spc="-1" strike="noStrike">
                <a:solidFill>
                  <a:srgbClr val="000000"/>
                </a:solidFill>
                <a:latin typeface="Microsoft YaHei"/>
              </a:rPr>
              <a:t>项目介绍与实验进展 </a:t>
            </a:r>
            <a:r>
              <a:rPr b="0" lang="en-US" sz="1200" spc="-1" strike="noStrike">
                <a:solidFill>
                  <a:srgbClr val="000000"/>
                </a:solidFill>
                <a:latin typeface="Microsoft YaHei"/>
              </a:rPr>
              <a:t>| 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2026-09-26T12:50:16Z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