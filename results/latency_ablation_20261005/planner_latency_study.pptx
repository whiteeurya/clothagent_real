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数据来源：results/latency_ablation_20261005/analysis.json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数据来源：results/latency_ablation_20261005/analysis.json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数据来源：results/two_stage_iteration_timing_20261005_172835/host_spans.csv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数据来源：results/two_stage_iteration_timing_20261005_172835/host_spans.csv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数据来源：results/two_stage_iteration_timing_20261005_172835/host_spans.csv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数据来源：results/latency_ablation_20261005/methodology.md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数据来源：results/two_stage_iteration_timing_20261005_172835/claude_calls.json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数据来源：results/latency_ablation_20261005/design.json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数据来源：results/latency_ablation_20261005/input_hashes.json; results/latency_ablation_20261005/quality_rubric.json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数据来源：results/latency_ablation_20261005/analysis.json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数据来源：results/latency_ablation_20261005/analysis.json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数据来源：results/latency_ablation_20261005/analysis.json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数据来源：results/latency_ablation_20261005/analysis.json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数据来源：results/latency_ablation_20261005/analysis.json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数据来源：results/latency_ablation_20261005/analysis.json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数据来源：results/latency_ablation_20261005/analysis.json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数据来源：results/latency_ablation_20261005/analysis.json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数据来源：results/latency_ablation_20261005/analysis.json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数据来源：results/latency_ablation_20261005/visual_review.json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数据来源：results/latency_ablation_20261005/excluded_attempts.json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数据来源：results/latency_ablation_20261005/analysis.json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数据来源：results/latency_ablation_20261005/analysis.json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数据来源：results/latency_ablation_20261005/analysis.json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数据来源：results/latency_ablation_20261005</a:t>
            </a:r>
          </a:p>
          <a:p>
            <a:r>
              <a:t>所有实验离线重放，不执行机器人。原始真实轮次另列。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耗时来自结构、方法，还是 Agent？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真实轮次完整计时 + 固定证据离线对照  |  可复查的实验报告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600" b="1">
                <a:solidFill>
                  <a:srgbClr val="2563EB"/>
                </a:solidFill>
                <a:latin typeface="Noto Sans CJK SC"/>
              </a:defRPr>
            </a:pPr>
            <a:r>
              <a:t>25 分 22 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004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182D47"/>
                </a:solidFill>
                <a:latin typeface="Noto Sans CJK SC"/>
              </a:defRPr>
            </a:pPr>
            <a:r>
              <a:t>原始真实轮次总耗时；其中规划 735.2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008577"/>
                </a:solidFill>
                <a:latin typeface="Noto Sans CJK SC"/>
              </a:defRPr>
            </a:pPr>
            <a:r>
              <a:t>10 组对照  /  13 次完成记录的模型调用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82D47"/>
                </a:solidFill>
                <a:latin typeface="Noto Sans CJK SC"/>
              </a:defRPr>
            </a:pPr>
            <a:r>
              <a:t>固定同一现场、同一组图片、同一模型；无机器人动作。</a:t>
            </a:r>
          </a:p>
          <a:p>
            <a:pPr>
              <a:spcAft>
                <a:spcPts val="900"/>
              </a:spcAft>
              <a:defRPr sz="2200" b="0">
                <a:solidFill>
                  <a:srgbClr val="182D47"/>
                </a:solidFill>
                <a:latin typeface="Noto Sans CJK SC"/>
              </a:defRPr>
            </a:pPr>
            <a:r>
              <a:t>本报告区分观测结果、因果线索与尚未验证的结论。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先看实验结论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最快结果必须同时通过离线质量检查；不等于真实抓取成功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91640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82D47"/>
                </a:solidFill>
                <a:latin typeface="Noto Sans CJK SC"/>
              </a:defRPr>
            </a:pPr>
            <a:r>
              <a:t>最快通过离线检查：G 图片直接输入，219.0 秒。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15768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715768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82D47"/>
                </a:solidFill>
                <a:latin typeface="Noto Sans CJK SC"/>
              </a:defRPr>
            </a:pPr>
            <a:r>
              <a:t>基准 A：488.0 秒；合并 C：418.7 秒（API 重试 1 次）。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39896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739896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82D47"/>
                </a:solidFill>
                <a:latin typeface="Noto Sans CJK SC"/>
              </a:defRPr>
            </a:pPr>
            <a:r>
              <a:t>同配置复测 C′：226.2 秒；服务与执行波动必须计入解释。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764024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764024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82D47"/>
                </a:solidFill>
                <a:latin typeface="Noto Sans CJK SC"/>
              </a:defRPr>
            </a:pPr>
            <a:r>
              <a:t>结论限定为一个场景的筛查；不能宣称算法下限或物理精度不变。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原始真实轮次：完整耗时表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各行互不重叠，可相加。1521.7 秒 = 25 分 22 秒。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627632"/>
          <a:ext cx="11109958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0920"/>
                <a:gridCol w="1874519"/>
                <a:gridCol w="1874519"/>
              </a:tblGrid>
              <a:tr h="36013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阶段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耗时 / 秒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占比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</a:tr>
              <a:tr h="3601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初始拍照与感知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19.2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1.3%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3601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操作前 supervisor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103.3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6.8%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3601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朝向准备与 Molmo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83.7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5.5%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3601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完整规划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735.2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48.3%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3601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机器人执行及录像收尾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98.2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6.5%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3601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操作后拍照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14.0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0.9%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3601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视频证据准备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3.1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0.2%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3601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evaluation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159.2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10.5%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3601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操作后 supervisor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81.9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5.4%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3601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经验更新与保存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223.5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14.7%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3601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其他校验、调度、落盘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0.4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0.0%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3601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合计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1521.7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100%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何时算“这一轮结束”？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同一轮可以有不同的业务终点，不能混用时间口径。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627632"/>
          <a:ext cx="11109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48840"/>
                <a:gridCol w="6035040"/>
              </a:tblGrid>
              <a:tr h="585216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终点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自开始累计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含义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规划完成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约 941 秒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抓取点、目标点和动作已生成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机器人执行结束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约 1040 秒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包含执行与录像收尾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evaluation 完成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约 1216 秒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20 分 16 秒，已有本轮效果判断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整轮正常返回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约 1522 秒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又做了 supervisor 与经验更新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010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2563EB"/>
                </a:solidFill>
                <a:latin typeface="Noto Sans CJK SC"/>
              </a:defRPr>
            </a:pPr>
            <a:r>
              <a:t>evaluation 之后额外约 305 秒，不能归因于“选点太慢”。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735 秒规划：编辑结束后仍有 502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阶段边界由 Host 计时；不是对私有思考内容的猜测。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627632"/>
          <a:ext cx="1110995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1874519"/>
                <a:gridCol w="5532120"/>
              </a:tblGrid>
              <a:tr h="621792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子阶段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耗时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实际交付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图像编辑与证据准备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231.8 秒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图片、发现、充分性判断、引用链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只读抓取点选择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261.4 秒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Rxx 抓取点与策略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只读目标及动作规划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241.1 秒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目标像素、动作序列、编译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其他规划开销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0.9 秒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调度与准备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166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08577"/>
                </a:solidFill>
                <a:latin typeface="Noto Sans CJK SC"/>
              </a:defRPr>
            </a:pPr>
            <a:r>
              <a:t>后两次调用均为 0 次编辑；但分别读取上下文 16 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这次发现的混杂因素：可用信息 ≠ 实际已读信息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因此增加 I：只内联 A 的实际 Read 返回内容，继续保留两次规划调用。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627632"/>
          <a:ext cx="11109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526280"/>
              </a:tblGrid>
              <a:tr h="7543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组别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实际输入变化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观察与解释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A 文件读取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自主选择；没有读 experience_context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基准的实际信息少于全部可用文件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B 全部内联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把此前未读的经验也交给模型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更快，但目标点明显左移，需复核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I 已读内容内联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只预先提供 A 实际读到的文本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更接近隔离上下文读取的交互成本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D07825"/>
                </a:solidFill>
                <a:latin typeface="Noto Sans CJK SC"/>
              </a:defRPr>
            </a:pPr>
            <a:r>
              <a:t>B 的公开输出引用经验要求扩大搬运距离；这提供解释线索，尚不能单独证明因果。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原始图像编辑：8 轮交互，3 次编辑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响应输出窗口包括 thinking、文字与工具参数；并非图片运算耗时。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627632"/>
          <a:ext cx="11109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532120"/>
                <a:gridCol w="2423160"/>
                <a:gridCol w="2423160"/>
              </a:tblGrid>
              <a:tr h="4978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轮次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公开操作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响应前等待 / 秒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输出窗口 / 秒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目录与图片列表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34.3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1.3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读取约束、参考状态等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1.8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3.1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查看原图和标记图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1.7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3.3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查看两张参考图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8.0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29.1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5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原图旋转 90°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8.8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13.9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6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裁剪袖子与已折区域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11.4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6.3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读取候选、查看 Rxx 图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11.0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13.8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8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提交 READY 与证据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12.0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40.6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三类原因，分别怎样验证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速度收益只有在任务和质量约束可比时才有意义。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627632"/>
          <a:ext cx="111099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  <a:gridCol w="2880360"/>
              </a:tblGrid>
              <a:tr h="71323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类别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控制变量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主要比较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结构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任务和内容不变，改变交付与调用组织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A → B；B → C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方法 / 算法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结构固定，改变决策步骤或计算辅助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C → D；D → E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Agent 执行方式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方法固定，约束输出或消除取图交互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C → F；C → G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波动控制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同一配置再次运行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C → C′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D07825"/>
                </a:solidFill>
                <a:latin typeface="Noto Sans CJK SC"/>
              </a:defRPr>
            </a:pPr>
            <a:r>
              <a:t>另测同模型 low effort；未测不同模型或 provider 内部排队。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可比性与质量约束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同一组 9 张图片，按校验值冻结；没有提供上次最终选点答案。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91640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D47"/>
                </a:solidFill>
                <a:latin typeface="Noto Sans CJK SC"/>
              </a:defRPr>
            </a:pPr>
            <a:r>
              <a:t>固定模型请求、图片、任务、schema；所有调用禁止图像编辑。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15768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715768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D47"/>
                </a:solidFill>
                <a:latin typeface="Noto Sans CJK SC"/>
              </a:defRPr>
            </a:pPr>
            <a:r>
              <a:t>前两组 motion 使用本组刚产生的抓取方案，避免泄漏旧答案。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39896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739896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D47"/>
                </a:solidFill>
                <a:latin typeface="Noto Sans CJK SC"/>
              </a:defRPr>
            </a:pPr>
            <a:r>
              <a:t>检查 schema、候选资格、坐标引用链、提拉与释放顺序。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764024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764024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D47"/>
                </a:solidFill>
                <a:latin typeface="Noto Sans CJK SC"/>
              </a:defRPr>
            </a:pPr>
            <a:r>
              <a:t>额外用当前图像的近似区域复核袖口、胸前目标与向内方向；未运行 IK 或物理动作。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对照实验：总耗时与交互次数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A/B/I 包含两次调用；其余为一次完整选点与动作输出。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627632"/>
          <a:ext cx="11109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097280"/>
                <a:gridCol w="731520"/>
                <a:gridCol w="1005840"/>
                <a:gridCol w="1691640"/>
                <a:gridCol w="2651760"/>
              </a:tblGrid>
              <a:tr h="407323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实验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秒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调用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响应轮次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Read / 看图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质量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A 文件上下文·两次调用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488.0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15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33 / 8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离线检查通过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B 内联上下文·两次调用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366.0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 / 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需复核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C 内联上下文·合并调用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418.7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 / 4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离线检查通过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D 明确决策步骤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285.4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 / 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离线检查通过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E 步骤 + 几何代码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240.4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 / 2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离线检查通过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F 简洁输出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228.9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 / 2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离线检查通过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G 图片直接输入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219.0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 / 0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离线检查通过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C′ 合并调用复测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226.2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 / 3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离线检查通过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H 同模型·low effort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93.6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 / 2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需复核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I 实际已读内容内联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297.3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6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 / 6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离线检查通过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耗时比较：先观察效果，再讨论归因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条形长度是该组总墙钟时间，包含调用与本地校验。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D47"/>
                </a:solidFill>
                <a:latin typeface="Noto Sans CJK SC"/>
              </a:defRPr>
            </a:pPr>
            <a:r>
              <a:t>A 文件上下文·两次调用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691640"/>
            <a:ext cx="6035040" cy="27432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52760" y="1664208"/>
            <a:ext cx="896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488.0s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D47"/>
                </a:solidFill>
                <a:latin typeface="Noto Sans CJK SC"/>
              </a:defRPr>
            </a:pPr>
            <a:r>
              <a:t>B 内联上下文·两次调用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176272"/>
            <a:ext cx="4526711" cy="274320"/>
          </a:xfrm>
          <a:prstGeom prst="rect">
            <a:avLst/>
          </a:prstGeom>
          <a:solidFill>
            <a:srgbClr val="D0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52760" y="2148840"/>
            <a:ext cx="896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366.0s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33472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D47"/>
                </a:solidFill>
                <a:latin typeface="Noto Sans CJK SC"/>
              </a:defRPr>
            </a:pPr>
            <a:r>
              <a:t>C 内联上下文·合并调用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660903"/>
            <a:ext cx="5178657" cy="27432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52760" y="2633472"/>
            <a:ext cx="896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418.7s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18104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D47"/>
                </a:solidFill>
                <a:latin typeface="Noto Sans CJK SC"/>
              </a:defRPr>
            </a:pPr>
            <a:r>
              <a:t>D 明确决策步骤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145536"/>
            <a:ext cx="3529351" cy="27432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52760" y="3118104"/>
            <a:ext cx="896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285.4s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602736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D47"/>
                </a:solidFill>
                <a:latin typeface="Noto Sans CJK SC"/>
              </a:defRPr>
            </a:pPr>
            <a:r>
              <a:t>E 步骤 + 几何代码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630168"/>
            <a:ext cx="2973411" cy="27432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52760" y="3602736"/>
            <a:ext cx="896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240.4s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087368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D47"/>
                </a:solidFill>
                <a:latin typeface="Noto Sans CJK SC"/>
              </a:defRPr>
            </a:pPr>
            <a:r>
              <a:t>F 简洁输出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4114800"/>
            <a:ext cx="2831007" cy="27432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52760" y="4087368"/>
            <a:ext cx="896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228.9s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572000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D47"/>
                </a:solidFill>
                <a:latin typeface="Noto Sans CJK SC"/>
              </a:defRPr>
            </a:pPr>
            <a:r>
              <a:t>G 图片直接输入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599432"/>
            <a:ext cx="2709040" cy="27432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60" y="4572000"/>
            <a:ext cx="896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219.0s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056632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D47"/>
                </a:solidFill>
                <a:latin typeface="Noto Sans CJK SC"/>
              </a:defRPr>
            </a:pPr>
            <a:r>
              <a:t>C′ 合并调用复测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5084064"/>
            <a:ext cx="2797120" cy="27432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52760" y="5056632"/>
            <a:ext cx="896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226.2s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541264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D47"/>
                </a:solidFill>
                <a:latin typeface="Noto Sans CJK SC"/>
              </a:defRPr>
            </a:pPr>
            <a:r>
              <a:t>H 同模型·low effort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5568696"/>
            <a:ext cx="1157116" cy="274320"/>
          </a:xfrm>
          <a:prstGeom prst="rect">
            <a:avLst/>
          </a:prstGeom>
          <a:solidFill>
            <a:srgbClr val="D0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52760" y="5541264"/>
            <a:ext cx="896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93.6s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025896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D47"/>
                </a:solidFill>
                <a:latin typeface="Noto Sans CJK SC"/>
              </a:defRPr>
            </a:pPr>
            <a:r>
              <a:t>I 实际已读内容内联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6053328"/>
            <a:ext cx="3676764" cy="27432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60" y="6025896"/>
            <a:ext cx="896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297.3s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成对比较：每次只解释对应变化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联合调用对照采用 C′（C 有服务重试）；顺序、缓存和单样本波动仍限制因果结论。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627632"/>
          <a:ext cx="111099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1828800"/>
                <a:gridCol w="3429000"/>
              </a:tblGrid>
              <a:tr h="42976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改变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之前 → 之后 / 秒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耗时减少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离线质量：前 → 后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全部上下文交付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488.0 → 366.0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+25.0%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通过 → 复核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合并调用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366.0 → 226.2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+38.2%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复核 → 通过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明确步骤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226.2 → 285.4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-26.2%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通过 → 通过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代码辅助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285.4 → 240.4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+15.8%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通过 → 通过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简洁输出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226.2 → 228.9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-1.2%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通过 → 通过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直接输入图片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226.2 → 219.0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+3.1%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通过 → 通过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同配置波动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418.7 → 226.2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+46.0%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通过 → 通过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推理强度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226.2 → 93.6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+58.6%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通过 → 复核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已读信息匹配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488.0 → 297.3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+39.1%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通过 → 通过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服务异常：需要单独归类的第四种因素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不能把服务端重试造成的长尾全部归因于结构、算法或 Agent。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627632"/>
          <a:ext cx="1110996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103120"/>
                <a:gridCol w="2971800"/>
              </a:tblGrid>
              <a:tr h="369916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实验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API 重试次数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记录的错误状态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A 文件上下文·两次调用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无记录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B 内联上下文·两次调用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无记录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C 内联上下文·合并调用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[524]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D 明确决策步骤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无记录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E 步骤 + 几何代码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无记录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F 简洁输出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无记录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G 图片直接输入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无记录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C′ 合并调用复测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无记录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H 同模型·low effort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无记录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369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I 实际已读内容内联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无记录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25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D07825"/>
                </a:solidFill>
                <a:latin typeface="Noto Sans CJK SC"/>
              </a:defRPr>
            </a:pPr>
            <a:r>
              <a:t>重试事件的时间戳不等于失败请求时长；不直接扣除 168 秒或将其视为纯网络时间。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Token 不是时间：这里展示 CLI 的记录值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主调用总量含缓存；thinking 已在 output 中。费用含辅助模型。* 表示 usage 可疑，不能推断推理量。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627632"/>
          <a:ext cx="11109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834640"/>
                <a:gridCol w="2194560"/>
                <a:gridCol w="2286000"/>
                <a:gridCol w="2697480"/>
              </a:tblGrid>
              <a:tr h="407323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实验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主调用 token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输出 token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其中 thinking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记录费用 / USD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A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382,031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28,904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20,525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1.375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B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143,716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53,122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45,850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1.886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C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105,903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12,129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8,231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0.729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D*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105,476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4,342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505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0.410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E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103,453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34,892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29,120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1.322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F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87,814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32,488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27,717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1.129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G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57,769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26,419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20,721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0.871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C′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159,886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14,404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6,790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0.714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H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60,134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3,990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1,064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0.327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I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177,730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14,176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9,491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0.864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等待、输出和传输：不能叫作纯思考时间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下表按观测窗口统计；不同列有包含关系，不用于相加得到总耗时。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627632"/>
          <a:ext cx="11109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03120"/>
                <a:gridCol w="2788920"/>
                <a:gridCol w="2560320"/>
                <a:gridCol w="2651760"/>
              </a:tblGrid>
              <a:tr h="407323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实验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总墙钟 / 秒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响应前等待合计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响应输出窗口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CLI 窗口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A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488.0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85.6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348.7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451.4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B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366.0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33.4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300.5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336.2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C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418.7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241.3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160.9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403.6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D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285.4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41.7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227.5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270.6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E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240.4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18.2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206.2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225.5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F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228.9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17.8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191.8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210.6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G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219.0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39.8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156.8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207.4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C′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226.2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22.0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190.5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213.5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H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93.6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27.8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46.4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75.5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I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297.3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62.1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181.6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254.6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输出质量：抓取点 G → 目标点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黄色为抓取点，青色为目标点；所有结果映射到同一张当前衣服图。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16</a:t>
            </a:r>
          </a:p>
        </p:txBody>
      </p:sp>
      <p:pic>
        <p:nvPicPr>
          <p:cNvPr id="7" name="Picture 6" descr="A_files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536192"/>
            <a:ext cx="3429000" cy="19288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46557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A · R088 · 离线检查通过</a:t>
            </a:r>
          </a:p>
        </p:txBody>
      </p:sp>
      <p:pic>
        <p:nvPicPr>
          <p:cNvPr id="9" name="Picture 8" descr="B_inline_spl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536192"/>
            <a:ext cx="3429000" cy="19288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79" y="346557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B · R088 · 需复核</a:t>
            </a:r>
          </a:p>
        </p:txBody>
      </p:sp>
      <p:pic>
        <p:nvPicPr>
          <p:cNvPr id="11" name="Picture 10" descr="C_inline_merg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895344"/>
            <a:ext cx="3429000" cy="19288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824727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C · R089 · 离线检查通过</a:t>
            </a:r>
          </a:p>
        </p:txBody>
      </p:sp>
      <p:pic>
        <p:nvPicPr>
          <p:cNvPr id="13" name="Picture 12" descr="D_orde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895344"/>
            <a:ext cx="3429000" cy="19288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55079" y="5824727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D · R088 · 离线检查通过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输出质量：抓取点 G → 目标点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黄色为抓取点，青色为目标点；所有结果映射到同一张当前衣服图。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17</a:t>
            </a:r>
          </a:p>
        </p:txBody>
      </p:sp>
      <p:pic>
        <p:nvPicPr>
          <p:cNvPr id="7" name="Picture 6" descr="E_geo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536192"/>
            <a:ext cx="3429000" cy="19288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46557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E · R099 · 离线检查通过</a:t>
            </a:r>
          </a:p>
        </p:txBody>
      </p:sp>
      <p:pic>
        <p:nvPicPr>
          <p:cNvPr id="9" name="Picture 8" descr="F_conci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536192"/>
            <a:ext cx="3429000" cy="19288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79" y="346557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F · R088 · 离线检查通过</a:t>
            </a:r>
          </a:p>
        </p:txBody>
      </p:sp>
      <p:pic>
        <p:nvPicPr>
          <p:cNvPr id="11" name="Picture 10" descr="G_dir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895344"/>
            <a:ext cx="3429000" cy="19288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824727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G · R088 · 离线检查通过</a:t>
            </a:r>
          </a:p>
        </p:txBody>
      </p:sp>
      <p:pic>
        <p:nvPicPr>
          <p:cNvPr id="13" name="Picture 12" descr="C_rep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895344"/>
            <a:ext cx="3429000" cy="19288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55079" y="5824727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C′ · R089 · 离线检查通过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输出质量：抓取点 G → 目标点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黄色为抓取点，青色为目标点；所有结果映射到同一张当前衣服图。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18</a:t>
            </a:r>
          </a:p>
        </p:txBody>
      </p:sp>
      <p:pic>
        <p:nvPicPr>
          <p:cNvPr id="7" name="Picture 6" descr="H_low_eff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536192"/>
            <a:ext cx="3429000" cy="19288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46557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H · R088 · 需复核</a:t>
            </a:r>
          </a:p>
        </p:txBody>
      </p:sp>
      <p:pic>
        <p:nvPicPr>
          <p:cNvPr id="9" name="Picture 8" descr="I_matched_in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536192"/>
            <a:ext cx="3429000" cy="19288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79" y="346557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82D47"/>
                </a:solidFill>
                <a:latin typeface="Noto Sans CJK SC"/>
              </a:defRPr>
            </a:pPr>
            <a:r>
              <a:t>I · R088 · 离线检查通过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两个“需复核”，原因完全不同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保留原始区域检查，不把近似边界当作物理真值；以下为图像复核。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19</a:t>
            </a:r>
          </a:p>
        </p:txBody>
      </p:sp>
      <p:pic>
        <p:nvPicPr>
          <p:cNvPr id="7" name="Picture 6" descr="target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45920"/>
            <a:ext cx="109728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82D47"/>
                </a:solidFill>
                <a:latin typeface="Noto Sans CJK SC"/>
              </a:defRPr>
            </a:pPr>
            <a:r>
              <a:t>H：上胸近领口，距近似 ROI 边界约 2px；几何上合理，放置效果待验证。</a:t>
            </a:r>
          </a:p>
          <a:p>
            <a:pPr>
              <a:spcAft>
                <a:spcPts val="900"/>
              </a:spcAft>
              <a:defRPr sz="1900" b="0">
                <a:solidFill>
                  <a:srgbClr val="182D47"/>
                </a:solidFill>
                <a:latin typeface="Noto Sans CJK SC"/>
              </a:defRPr>
            </a:pPr>
            <a:r>
              <a:t>B：明显落到另一侧已折袖子区域；不能当作质量不变的加速。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另一个结构性问题：CLI 启动时输入未就绪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失败尝试单独保留，不把“30.9 秒退出”当成加速。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91640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D47"/>
                </a:solidFill>
                <a:latin typeface="Noto Sans CJK SC"/>
              </a:defRPr>
            </a:pPr>
            <a:r>
              <a:t>I 首次启动报：3 秒内没有收到 stdin；未得到模型响应或 token 终值。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15768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715768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D47"/>
                </a:solidFill>
                <a:latin typeface="Noto Sans CJK SC"/>
              </a:defRPr>
            </a:pPr>
            <a:r>
              <a:t>在测试传输中先完整缓存文本，再以 stream-json 启动 CLI。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39896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739896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D47"/>
                </a:solidFill>
                <a:latin typeface="Noto Sans CJK SC"/>
              </a:defRPr>
            </a:pPr>
            <a:r>
              <a:t>重跑前核对：提示词和 schema 与失败时完全一致。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764024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764024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D47"/>
                </a:solidFill>
                <a:latin typeface="Noto Sans CJK SC"/>
              </a:defRPr>
            </a:pPr>
            <a:r>
              <a:t>这修正的是实验输入交付；没有修改生产规划策略。失败记录仍可复查。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能确认什么，尚不能确认什么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区分软件问题、方法收益与服务行为，避免过度归因。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627632"/>
          <a:ext cx="111099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937760"/>
                <a:gridCol w="4892040"/>
              </a:tblGrid>
              <a:tr h="71323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层面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这次能验证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这次不能证明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结构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减少 Read 和调用是否改善本场景耗时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其他场景也稳定加速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明确步骤 / 几何辅助的输出和耗时变化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现有算法已最优，或耗时是理论下限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Agent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输出约束 / 取图方式的行为差异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全部差异来自模型纯推理或服务排队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质量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离线契约、引用链、语义区域一致性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真实抓取成功率与物理折叠精度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回答最初的三个问题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百分比表示耗时减少；负数表示变慢。各项只针对当前样本。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627632"/>
          <a:ext cx="1110996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251960"/>
              </a:tblGrid>
              <a:tr h="75895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问题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实验结果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解释边界</a:t>
                      </a:r>
                    </a:p>
                  </a:txBody>
                  <a:tcPr marL="109728" marR="73152" marT="45720" marB="18288">
                    <a:solidFill>
                      <a:srgbClr val="182D47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结构 / 信息交付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A → I：+39.1%；离线检查通过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更接近隔离文件读取的多轮交互成本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方法 / 算法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D → E 减少 +15.8%；相对 C′：-6.3%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有局部收益，不等于优于基本联合规划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Agent 执行设置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C′ → H：+58.6%；需复核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同模型请求 low effort；不能外推稳定精度</a:t>
                      </a:r>
                    </a:p>
                  </a:txBody>
                  <a:tcPr marL="109728" marR="73152" marT="45720" marB="18288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服务异常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C：418.7s / C′：226.2s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82D47"/>
                          </a:solidFill>
                          <a:latin typeface="Noto Sans CJK SC"/>
                        </a:defRPr>
                      </a:pPr>
                      <a:r>
                        <a:t>C 有 524 重试；这是必须单列的因素</a:t>
                      </a:r>
                    </a:p>
                  </a:txBody>
                  <a:tcPr marL="109728" marR="73152" marT="45720" marB="18288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63EB"/>
                </a:solidFill>
                <a:latin typeface="Noto Sans CJK SC"/>
              </a:defRPr>
            </a:pPr>
            <a:r>
              <a:t>三类原因可以并存；本实验不会把剩余时间自动归给“算法必需”或“Agent 天性”。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建议：按验证结果逐步落地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本次实验没有修改生产推理策略、没有更新正式 skill。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91640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D47"/>
                </a:solidFill>
                <a:latin typeface="Noto Sans CJK SC"/>
              </a:defRPr>
            </a:pPr>
            <a:r>
              <a:t>先保留“原始计时 + 公共工具记录 + token”的统一观测口径。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15768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715768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D47"/>
                </a:solidFill>
                <a:latin typeface="Noto Sans CJK SC"/>
              </a:defRPr>
            </a:pPr>
            <a:r>
              <a:t>优先复测最快且通过离线检查的配置；再扩展不同朝向与遮挡场景。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39896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739896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D47"/>
                </a:solidFill>
                <a:latin typeface="Noto Sans CJK SC"/>
              </a:defRPr>
            </a:pPr>
            <a:r>
              <a:t>若收益大于同配置波动，再单独接入生产流程；保留原流程回退。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764024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764024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D47"/>
                </a:solidFill>
                <a:latin typeface="Noto Sans CJK SC"/>
              </a:defRPr>
            </a:pPr>
            <a:r>
              <a:t>上线前追加静态编译 / IK 检查和受控机器人验证，不能直接由速度决定。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2D47"/>
                </a:solidFill>
                <a:latin typeface="Noto Sans CJK SC"/>
              </a:defRPr>
            </a:pPr>
            <a:r>
              <a:t>复查入口与实验限制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3758B"/>
                </a:solidFill>
                <a:latin typeface="Noto Sans CJK SC"/>
              </a:defRPr>
            </a:pPr>
            <a:r>
              <a:t>所有数值来自本地记录；原始请求、输出、工具轨迹和 token 均保留。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3758B"/>
                </a:solidFill>
                <a:latin typeface="Noto Sans CJK SC"/>
              </a:defRPr>
            </a:pPr>
            <a:r>
              <a:t>Cloth Agent  ·  Latency Study  ·  2026-10-05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3758B"/>
                </a:solidFill>
                <a:latin typeface="Noto Sans CJK SC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82D47"/>
                </a:solidFill>
                <a:latin typeface="Noto Sans CJK SC"/>
              </a:defRPr>
            </a:pPr>
            <a:r>
              <a:t>原始真实轮次</a:t>
            </a:r>
          </a:p>
          <a:p>
            <a:pPr>
              <a:spcAft>
                <a:spcPts val="900"/>
              </a:spcAft>
              <a:defRPr sz="2000" b="0">
                <a:solidFill>
                  <a:srgbClr val="182D47"/>
                </a:solidFill>
                <a:latin typeface="Noto Sans CJK SC"/>
              </a:defRPr>
            </a:pPr>
            <a:r>
              <a:t>results/two_stage_iteration_timing_20261005_172835/</a:t>
            </a:r>
          </a:p>
          <a:p>
            <a:pPr>
              <a:spcAft>
                <a:spcPts val="900"/>
              </a:spcAft>
              <a:defRPr sz="2000" b="0">
                <a:solidFill>
                  <a:srgbClr val="182D47"/>
                </a:solidFill>
                <a:latin typeface="Noto Sans CJK SC"/>
              </a:defRPr>
            </a:pPr>
          </a:p>
          <a:p>
            <a:pPr>
              <a:spcAft>
                <a:spcPts val="900"/>
              </a:spcAft>
              <a:defRPr sz="2000" b="0">
                <a:solidFill>
                  <a:srgbClr val="182D47"/>
                </a:solidFill>
                <a:latin typeface="Noto Sans CJK SC"/>
              </a:defRPr>
            </a:pPr>
            <a:r>
              <a:t>离线对照与统计</a:t>
            </a:r>
          </a:p>
          <a:p>
            <a:pPr>
              <a:spcAft>
                <a:spcPts val="900"/>
              </a:spcAft>
              <a:defRPr sz="2000" b="0">
                <a:solidFill>
                  <a:srgbClr val="182D47"/>
                </a:solidFill>
                <a:latin typeface="Noto Sans CJK SC"/>
              </a:defRPr>
            </a:pPr>
            <a:r>
              <a:t>results/latency_ablation_20261005/</a:t>
            </a:r>
          </a:p>
          <a:p>
            <a:pPr>
              <a:spcAft>
                <a:spcPts val="900"/>
              </a:spcAft>
              <a:defRPr sz="2000" b="0">
                <a:solidFill>
                  <a:srgbClr val="182D47"/>
                </a:solidFill>
                <a:latin typeface="Noto Sans CJK SC"/>
              </a:defRPr>
            </a:pPr>
          </a:p>
          <a:p>
            <a:pPr>
              <a:spcAft>
                <a:spcPts val="900"/>
              </a:spcAft>
              <a:defRPr sz="2000" b="0">
                <a:solidFill>
                  <a:srgbClr val="182D47"/>
                </a:solidFill>
                <a:latin typeface="Noto Sans CJK SC"/>
              </a:defRPr>
            </a:pPr>
            <a:r>
              <a:t>复现实验</a:t>
            </a:r>
          </a:p>
          <a:p>
            <a:pPr>
              <a:spcAft>
                <a:spcPts val="900"/>
              </a:spcAft>
              <a:defRPr sz="2000" b="0">
                <a:solidFill>
                  <a:srgbClr val="182D47"/>
                </a:solidFill>
                <a:latin typeface="Noto Sans CJK SC"/>
              </a:defRPr>
            </a:pPr>
            <a:r>
              <a:t>scripts/benchmark_planner_latency.py</a:t>
            </a:r>
          </a:p>
          <a:p>
            <a:pPr>
              <a:spcAft>
                <a:spcPts val="900"/>
              </a:spcAft>
              <a:defRPr sz="2000" b="0">
                <a:solidFill>
                  <a:srgbClr val="182D47"/>
                </a:solidFill>
                <a:latin typeface="Noto Sans CJK SC"/>
              </a:defRPr>
            </a:pPr>
          </a:p>
          <a:p>
            <a:pPr>
              <a:spcAft>
                <a:spcPts val="900"/>
              </a:spcAft>
              <a:defRPr sz="2000" b="0">
                <a:solidFill>
                  <a:srgbClr val="182D47"/>
                </a:solidFill>
                <a:latin typeface="Noto Sans CJK SC"/>
              </a:defRPr>
            </a:pPr>
            <a:r>
              <a:t>报告生成</a:t>
            </a:r>
          </a:p>
          <a:p>
            <a:pPr>
              <a:spcAft>
                <a:spcPts val="900"/>
              </a:spcAft>
              <a:defRPr sz="2000" b="0">
                <a:solidFill>
                  <a:srgbClr val="182D47"/>
                </a:solidFill>
                <a:latin typeface="Noto Sans CJK SC"/>
              </a:defRPr>
            </a:pPr>
            <a:r>
              <a:t>scripts/report_planner_latency.py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